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embeddedFontLst>
    <p:embeddedFont>
      <p:font typeface="Lato" panose="020F0502020204030203" pitchFamily="34" charset="0"/>
      <p:regular r:id="rId5"/>
      <p:bold r:id="rId6"/>
      <p:italic r:id="rId7"/>
      <p:boldItalic r:id="rId8"/>
    </p:embeddedFon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Poppins SemiBold" panose="00000700000000000000" pitchFamily="2" charset="0"/>
      <p:regular r:id="rId13"/>
      <p:bold r:id="rId14"/>
      <p:italic r:id="rId15"/>
      <p:boldItalic r:id="rId16"/>
    </p:embeddedFont>
    <p:embeddedFont>
      <p:font typeface="Urbanist" panose="020B0604020202020204" charset="0"/>
      <p:regular r:id="rId17"/>
      <p:bold r:id="rId18"/>
      <p:italic r:id="rId19"/>
      <p:boldItalic r:id="rId20"/>
    </p:embeddedFont>
    <p:embeddedFont>
      <p:font typeface="Urbanist ExtraBold" panose="020B0604020202020204" charset="0"/>
      <p:bold r:id="rId21"/>
      <p:boldItalic r:id="rId22"/>
    </p:embeddedFont>
    <p:embeddedFont>
      <p:font typeface="Urbanist Medium" panose="020B0604020202020204" charset="0"/>
      <p:regular r:id="rId23"/>
      <p:bold r:id="rId24"/>
      <p:italic r:id="rId25"/>
      <p:boldItalic r:id="rId26"/>
    </p:embeddedFont>
    <p:embeddedFont>
      <p:font typeface="Urbanist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Reboque" id="{99586D4C-79B8-475C-969A-FB400A90E5E2}">
          <p14:sldIdLst>
            <p14:sldId id="256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43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26" Type="http://schemas.openxmlformats.org/officeDocument/2006/relationships/font" Target="fonts/font22.fntdata"/><Relationship Id="rId3" Type="http://schemas.openxmlformats.org/officeDocument/2006/relationships/slide" Target="slides/slide2.xml"/><Relationship Id="rId21" Type="http://schemas.openxmlformats.org/officeDocument/2006/relationships/font" Target="fonts/font17.fntdata"/><Relationship Id="rId34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5" Type="http://schemas.openxmlformats.org/officeDocument/2006/relationships/font" Target="fonts/font2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font" Target="fonts/font16.fntdata"/><Relationship Id="rId29" Type="http://schemas.openxmlformats.org/officeDocument/2006/relationships/font" Target="fonts/font25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24" Type="http://schemas.openxmlformats.org/officeDocument/2006/relationships/font" Target="fonts/font20.fntdata"/><Relationship Id="rId32" Type="http://schemas.openxmlformats.org/officeDocument/2006/relationships/viewProps" Target="viewProps.xml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openxmlformats.org/officeDocument/2006/relationships/font" Target="fonts/font19.fntdata"/><Relationship Id="rId28" Type="http://schemas.openxmlformats.org/officeDocument/2006/relationships/font" Target="fonts/font24.fntdata"/><Relationship Id="rId10" Type="http://schemas.openxmlformats.org/officeDocument/2006/relationships/font" Target="fonts/font6.fntdata"/><Relationship Id="rId19" Type="http://schemas.openxmlformats.org/officeDocument/2006/relationships/font" Target="fonts/font15.fntdata"/><Relationship Id="rId31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font" Target="fonts/font18.fntdata"/><Relationship Id="rId27" Type="http://schemas.openxmlformats.org/officeDocument/2006/relationships/font" Target="fonts/font23.fntdata"/><Relationship Id="rId30" Type="http://schemas.openxmlformats.org/officeDocument/2006/relationships/font" Target="fonts/font26.fntdata"/><Relationship Id="rId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00200"/>
            <a:ext cx="497205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24550" y="1600200"/>
            <a:ext cx="607695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24550" y="4086225"/>
            <a:ext cx="607695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33725"/>
            <a:ext cx="2892176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391150"/>
            <a:ext cx="23907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52775" y="5391150"/>
            <a:ext cx="23907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3425" y="3257550"/>
            <a:ext cx="6477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2950" y="3457575"/>
            <a:ext cx="6286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838200" y="1809750"/>
            <a:ext cx="470058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Racional Estratégico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38200" y="2162175"/>
            <a:ext cx="4476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faturamento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reboques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em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Pessoas</a:t>
            </a:r>
            <a:r>
              <a:rPr lang="en-US" sz="12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Físicas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eleva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risco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carteira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demandando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restrição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dessas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operações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1624592" y="3379440"/>
            <a:ext cx="1533898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Data de Implantação</a:t>
            </a:r>
            <a:r>
              <a:rPr lang="en-US" sz="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Bloqueio Geral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Produção</a:t>
            </a:r>
            <a:r>
              <a:rPr lang="en-US" sz="700" b="0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700" b="0" i="0" u="none" strike="noStrike" cap="none" dirty="0" err="1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sistêmica</a:t>
            </a:r>
            <a:endParaRPr sz="800" dirty="0"/>
          </a:p>
        </p:txBody>
      </p:sp>
      <p:sp>
        <p:nvSpPr>
          <p:cNvPr id="99" name="Google Shape;99;p13"/>
          <p:cNvSpPr txBox="1"/>
          <p:nvPr/>
        </p:nvSpPr>
        <p:spPr>
          <a:xfrm>
            <a:off x="771525" y="5553075"/>
            <a:ext cx="1990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-18%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771525" y="5924550"/>
            <a:ext cx="1990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Inadimplência PF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771525" y="6096000"/>
            <a:ext cx="1990725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Redução estrutural estimada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3352800" y="5553075"/>
            <a:ext cx="1990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+25%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3352800" y="5924550"/>
            <a:ext cx="19907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Migração para-PJ</a:t>
            </a:r>
            <a:endParaRPr dirty="0"/>
          </a:p>
        </p:txBody>
      </p:sp>
      <p:sp>
        <p:nvSpPr>
          <p:cNvPr id="104" name="Google Shape;104;p13"/>
          <p:cNvSpPr txBox="1"/>
          <p:nvPr/>
        </p:nvSpPr>
        <p:spPr>
          <a:xfrm>
            <a:off x="3352800" y="6096000"/>
            <a:ext cx="1990725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Conversão para CNPJ ativo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6200775" y="1838325"/>
            <a:ext cx="231028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Canal Pessoa Física (PF)</a:t>
            </a:r>
            <a:endParaRPr/>
          </a:p>
        </p:txBody>
      </p:sp>
      <p:pic>
        <p:nvPicPr>
          <p:cNvPr id="106" name="Google Shape;106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039475" y="1866900"/>
            <a:ext cx="7239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/>
        </p:nvSpPr>
        <p:spPr>
          <a:xfrm>
            <a:off x="6467475" y="2209800"/>
            <a:ext cx="5295900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Bloqueio </a:t>
            </a:r>
            <a:r>
              <a:rPr lang="en-US" sz="105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Sistêmico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Impedimento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novos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faturamentos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reboques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 semi-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reboques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contratos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aderidos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partir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junho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/26.</a:t>
            </a:r>
            <a:endParaRPr dirty="0"/>
          </a:p>
        </p:txBody>
      </p:sp>
      <p:sp>
        <p:nvSpPr>
          <p:cNvPr id="108" name="Google Shape;108;p13"/>
          <p:cNvSpPr txBox="1"/>
          <p:nvPr/>
        </p:nvSpPr>
        <p:spPr>
          <a:xfrm>
            <a:off x="6467474" y="2718380"/>
            <a:ext cx="5295900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Análise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05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Fraude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05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concentração</a:t>
            </a:r>
            <a:r>
              <a:rPr lang="en-US" sz="105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de golpes no </a:t>
            </a:r>
            <a:r>
              <a:rPr lang="en-US" sz="105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faturamento</a:t>
            </a:r>
            <a:r>
              <a:rPr lang="en-US" sz="105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05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reboques</a:t>
            </a:r>
            <a:endParaRPr dirty="0"/>
          </a:p>
        </p:txBody>
      </p:sp>
      <p:sp>
        <p:nvSpPr>
          <p:cNvPr id="109" name="Google Shape;109;p13"/>
          <p:cNvSpPr txBox="1"/>
          <p:nvPr/>
        </p:nvSpPr>
        <p:spPr>
          <a:xfrm>
            <a:off x="6467474" y="3106214"/>
            <a:ext cx="5295900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Exceção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05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Única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Permitido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faturamento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reboques</a:t>
            </a:r>
            <a:endParaRPr dirty="0"/>
          </a:p>
        </p:txBody>
      </p:sp>
      <p:sp>
        <p:nvSpPr>
          <p:cNvPr id="110" name="Google Shape;110;p13"/>
          <p:cNvSpPr txBox="1"/>
          <p:nvPr/>
        </p:nvSpPr>
        <p:spPr>
          <a:xfrm>
            <a:off x="6200775" y="4324350"/>
            <a:ext cx="255031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Canal Pessoa Jurídica (PJ)</a:t>
            </a:r>
            <a:endParaRPr/>
          </a:p>
        </p:txBody>
      </p:sp>
      <p:pic>
        <p:nvPicPr>
          <p:cNvPr id="111" name="Google Shape;111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958512" y="4352925"/>
            <a:ext cx="804862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/>
        </p:nvSpPr>
        <p:spPr>
          <a:xfrm>
            <a:off x="6467475" y="4695825"/>
            <a:ext cx="5295900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Canal: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Aquisição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autorizada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frotas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equipamentos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logísticos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sob CNPJ.</a:t>
            </a:r>
            <a:endParaRPr dirty="0"/>
          </a:p>
        </p:txBody>
      </p:sp>
      <p:sp>
        <p:nvSpPr>
          <p:cNvPr id="113" name="Google Shape;113;p13"/>
          <p:cNvSpPr txBox="1"/>
          <p:nvPr/>
        </p:nvSpPr>
        <p:spPr>
          <a:xfrm>
            <a:off x="6467475" y="4977705"/>
            <a:ext cx="52959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Mitigação Qualitativa: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Exigência de CNAE compatível com transporte/logística e histórico de faturamento.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6467475" y="5446216"/>
            <a:ext cx="52959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Estímulo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à </a:t>
            </a:r>
            <a:r>
              <a:rPr lang="en-US" sz="105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Conversão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Condições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flexíveis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migração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do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autônomo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(PF)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ao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MEI/EIRELI (PJ).</a:t>
            </a:r>
            <a:endParaRPr dirty="0"/>
          </a:p>
        </p:txBody>
      </p:sp>
      <p:sp>
        <p:nvSpPr>
          <p:cNvPr id="115" name="Google Shape;115;p13"/>
          <p:cNvSpPr/>
          <p:nvPr/>
        </p:nvSpPr>
        <p:spPr>
          <a:xfrm>
            <a:off x="742950" y="3267075"/>
            <a:ext cx="628650" cy="1905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742950" y="3286125"/>
            <a:ext cx="6286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AGO</a:t>
            </a:r>
            <a:endParaRPr/>
          </a:p>
        </p:txBody>
      </p:sp>
      <p:pic>
        <p:nvPicPr>
          <p:cNvPr id="118" name="Google Shape;118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200775" y="222885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200774" y="273743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00774" y="312526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00775" y="471487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200775" y="499675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200775" y="5465266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Nova Política de Crédito: Faturamento de Reboques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552450" y="867846"/>
            <a:ext cx="84938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Ajuste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regulatório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no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faturamento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de bens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pesados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mitigação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30316" y="1323975"/>
            <a:ext cx="6085433" cy="51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323975"/>
            <a:ext cx="4868316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038475"/>
            <a:ext cx="4868316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5325" y="4060031"/>
            <a:ext cx="2157858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67483" y="4060031"/>
            <a:ext cx="2158007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5325" y="4669631"/>
            <a:ext cx="2157858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67483" y="4669631"/>
            <a:ext cx="2158007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476250" y="428625"/>
            <a:ext cx="11715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066C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Impacto </a:t>
            </a:r>
            <a:r>
              <a:rPr lang="en-US" sz="2850" b="0" i="0" u="none" strike="noStrike" cap="none" dirty="0" err="1">
                <a:solidFill>
                  <a:srgbClr val="0066C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Sistêmico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76250" y="904875"/>
            <a:ext cx="112395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Análise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da Trava de </a:t>
            </a:r>
            <a:r>
              <a:rPr lang="en-US" sz="1200" dirty="0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X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dias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: Saneamento de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Portfólio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e Bloqueio de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Alavancagem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6144666" y="1571625"/>
            <a:ext cx="532343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Evolução dos Motivos de Recusa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33425" y="1504950"/>
            <a:ext cx="461167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066C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MUDANÇA ESTRUTURAL DE SISTEMA</a:t>
            </a:r>
            <a:endParaRPr/>
          </a:p>
        </p:txBody>
      </p:sp>
      <p:pic>
        <p:nvPicPr>
          <p:cNvPr id="98" name="Google Shape;98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6275" y="2933700"/>
            <a:ext cx="22479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77966" y="159067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/>
          <p:nvPr/>
        </p:nvSpPr>
        <p:spPr>
          <a:xfrm>
            <a:off x="12542926" y="2252246"/>
            <a:ext cx="237083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14913758" y="2252246"/>
            <a:ext cx="137070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16284465" y="2252246"/>
            <a:ext cx="904428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17188894" y="2252246"/>
            <a:ext cx="94416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33425" y="181927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971550" y="1790700"/>
            <a:ext cx="415394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Sistema Antigo: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Fluxo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sem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oneração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renda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imediata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Contratações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Infinitas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em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 dirty="0" err="1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paralelo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pic>
        <p:nvPicPr>
          <p:cNvPr id="106" name="Google Shape;106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33425" y="229552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/>
        </p:nvSpPr>
        <p:spPr>
          <a:xfrm>
            <a:off x="971550" y="2266950"/>
            <a:ext cx="415394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Sistema Novo: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Trava de 45 dias onera 100% da renda declarada até a formalização do contrato.</a:t>
            </a:r>
            <a:endParaRPr/>
          </a:p>
        </p:txBody>
      </p:sp>
      <p:pic>
        <p:nvPicPr>
          <p:cNvPr id="108" name="Google Shape;108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5325" y="3305175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38200" y="5624512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1057722" y="5547122"/>
            <a:ext cx="3915816" cy="50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Bloqueio </a:t>
            </a:r>
            <a:r>
              <a:rPr lang="en-US" sz="937" b="1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Sistêmico</a:t>
            </a:r>
            <a:r>
              <a:rPr lang="en-US" sz="937" b="1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937" b="1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Ativo</a:t>
            </a:r>
            <a:r>
              <a:rPr lang="en-US" sz="937" b="1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937" b="0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937" b="0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Cliente</a:t>
            </a:r>
            <a:r>
              <a:rPr lang="en-US" sz="937" b="0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937" b="0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tentou</a:t>
            </a:r>
            <a:r>
              <a:rPr lang="en-US" sz="937" b="0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937" b="0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contratar</a:t>
            </a:r>
            <a:r>
              <a:rPr lang="en-US" sz="937" b="0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 a 2ª </a:t>
            </a:r>
            <a:r>
              <a:rPr lang="en-US" sz="937" b="0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cota</a:t>
            </a:r>
            <a:r>
              <a:rPr lang="en-US" sz="937" b="0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937" b="0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apenas</a:t>
            </a:r>
            <a:r>
              <a:rPr lang="en-US" sz="937" b="0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 no 5º </a:t>
            </a:r>
            <a:r>
              <a:rPr lang="en-US" sz="937" b="0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dia</a:t>
            </a:r>
            <a:r>
              <a:rPr lang="en-US" sz="937" b="0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937" b="0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intervalo</a:t>
            </a:r>
            <a:r>
              <a:rPr lang="en-US" sz="937" b="0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. Sistema </a:t>
            </a:r>
            <a:r>
              <a:rPr lang="en-US" sz="937" b="0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barrou</a:t>
            </a:r>
            <a:r>
              <a:rPr lang="en-US" sz="937" b="0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937" b="0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por</a:t>
            </a:r>
            <a:r>
              <a:rPr lang="en-US" sz="937" b="0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 "</a:t>
            </a:r>
            <a:r>
              <a:rPr lang="en-US" sz="937" b="0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Insuficiência</a:t>
            </a:r>
            <a:r>
              <a:rPr lang="en-US" sz="937" b="0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 de Renda Residual" </a:t>
            </a:r>
            <a:r>
              <a:rPr lang="en-US" sz="937" b="0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devido</a:t>
            </a:r>
            <a:r>
              <a:rPr lang="en-US" sz="937" b="0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 à </a:t>
            </a:r>
            <a:r>
              <a:rPr lang="en-US" sz="937" b="0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regra</a:t>
            </a:r>
            <a:r>
              <a:rPr lang="en-US" sz="937" b="0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 de 45 </a:t>
            </a:r>
            <a:r>
              <a:rPr lang="en-US" sz="937" b="0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dias</a:t>
            </a:r>
            <a:r>
              <a:rPr lang="en-US" sz="937" b="0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937" b="0" i="0" u="none" strike="noStrike" cap="none" dirty="0" err="1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carência</a:t>
            </a:r>
            <a:r>
              <a:rPr lang="en-US" sz="937" b="0" i="0" u="none" strike="noStrike" cap="none" dirty="0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11" name="Google Shape;111;p13"/>
          <p:cNvSpPr/>
          <p:nvPr/>
        </p:nvSpPr>
        <p:spPr>
          <a:xfrm>
            <a:off x="12542926" y="2912149"/>
            <a:ext cx="23708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14913758" y="2912149"/>
            <a:ext cx="13707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16284465" y="2912149"/>
            <a:ext cx="90442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17188894" y="2912149"/>
            <a:ext cx="94416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12542926" y="3556129"/>
            <a:ext cx="23708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14913758" y="3556129"/>
            <a:ext cx="13707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16284465" y="3556129"/>
            <a:ext cx="90442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17188894" y="3556129"/>
            <a:ext cx="94416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12542926" y="4200108"/>
            <a:ext cx="23708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14913758" y="4200108"/>
            <a:ext cx="13707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16284465" y="4200108"/>
            <a:ext cx="90442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17188894" y="4200108"/>
            <a:ext cx="94416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12542926" y="4844087"/>
            <a:ext cx="23708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14913758" y="4844087"/>
            <a:ext cx="13707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16284465" y="4844087"/>
            <a:ext cx="90442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17188894" y="4844087"/>
            <a:ext cx="94416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12542926" y="5494466"/>
            <a:ext cx="23708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14913758" y="5494466"/>
            <a:ext cx="13707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16284465" y="5494466"/>
            <a:ext cx="90442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17188894" y="5494466"/>
            <a:ext cx="94416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12542926" y="5503991"/>
            <a:ext cx="2370832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14913758" y="5503991"/>
            <a:ext cx="1370707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16284465" y="5503991"/>
            <a:ext cx="904428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17188894" y="5503991"/>
            <a:ext cx="944165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85812" y="341947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/>
        </p:nvSpPr>
        <p:spPr>
          <a:xfrm>
            <a:off x="1257300" y="3352800"/>
            <a:ext cx="386819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Jonathan Alves 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(CPF:   XX)</a:t>
            </a:r>
            <a:endParaRPr dirty="0"/>
          </a:p>
        </p:txBody>
      </p:sp>
      <p:sp>
        <p:nvSpPr>
          <p:cNvPr id="137" name="Google Shape;137;p13"/>
          <p:cNvSpPr txBox="1"/>
          <p:nvPr/>
        </p:nvSpPr>
        <p:spPr>
          <a:xfrm>
            <a:off x="1257300" y="3533775"/>
            <a:ext cx="386819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Perfil: Empresário Individual - PF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819150" y="4145756"/>
            <a:ext cx="1910208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RENDA DECLARADA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819150" y="4307681"/>
            <a:ext cx="186258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R$ X</a:t>
            </a:r>
            <a:endParaRPr dirty="0"/>
          </a:p>
        </p:txBody>
      </p:sp>
      <p:sp>
        <p:nvSpPr>
          <p:cNvPr id="140" name="Google Shape;140;p13"/>
          <p:cNvSpPr txBox="1"/>
          <p:nvPr/>
        </p:nvSpPr>
        <p:spPr>
          <a:xfrm>
            <a:off x="3091308" y="4145756"/>
            <a:ext cx="1910357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STATUS ANTIGO</a:t>
            </a:r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3091307" y="4307682"/>
            <a:ext cx="182214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5803D"/>
                </a:solidFill>
                <a:latin typeface="Urbanist"/>
                <a:ea typeface="Urbanist"/>
                <a:cs typeface="Urbanist"/>
                <a:sym typeface="Urbanist"/>
              </a:rPr>
              <a:t>5 </a:t>
            </a:r>
            <a:r>
              <a:rPr lang="en-US" sz="1050" b="1" i="0" u="none" strike="noStrike" cap="none" dirty="0" err="1">
                <a:solidFill>
                  <a:srgbClr val="15803D"/>
                </a:solidFill>
                <a:latin typeface="Urbanist"/>
                <a:ea typeface="Urbanist"/>
                <a:cs typeface="Urbanist"/>
                <a:sym typeface="Urbanist"/>
              </a:rPr>
              <a:t>Cotas</a:t>
            </a:r>
            <a:r>
              <a:rPr lang="en-US" sz="1050" b="1" i="0" u="none" strike="noStrike" cap="none" dirty="0">
                <a:solidFill>
                  <a:srgbClr val="15803D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1" i="0" u="none" strike="noStrike" cap="none" dirty="0" err="1">
                <a:solidFill>
                  <a:srgbClr val="15803D"/>
                </a:solidFill>
                <a:latin typeface="Urbanist"/>
                <a:ea typeface="Urbanist"/>
                <a:cs typeface="Urbanist"/>
                <a:sym typeface="Urbanist"/>
              </a:rPr>
              <a:t>Simultâneas</a:t>
            </a:r>
            <a:endParaRPr dirty="0"/>
          </a:p>
        </p:txBody>
      </p:sp>
      <p:sp>
        <p:nvSpPr>
          <p:cNvPr id="142" name="Google Shape;142;p13"/>
          <p:cNvSpPr txBox="1"/>
          <p:nvPr/>
        </p:nvSpPr>
        <p:spPr>
          <a:xfrm>
            <a:off x="819150" y="4755356"/>
            <a:ext cx="1910208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SCORE SERASA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819150" y="4917281"/>
            <a:ext cx="146106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920 (</a:t>
            </a:r>
            <a:r>
              <a:rPr lang="en-US" sz="1050" b="1" i="0" u="none" strike="noStrike" cap="none" dirty="0" err="1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Excelente</a:t>
            </a:r>
            <a:r>
              <a:rPr lang="en-US" sz="1050" b="1" i="0" u="none" strike="noStrike" cap="none" dirty="0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dirty="0"/>
          </a:p>
        </p:txBody>
      </p:sp>
      <p:sp>
        <p:nvSpPr>
          <p:cNvPr id="144" name="Google Shape;144;p13"/>
          <p:cNvSpPr txBox="1"/>
          <p:nvPr/>
        </p:nvSpPr>
        <p:spPr>
          <a:xfrm>
            <a:off x="3091308" y="4755356"/>
            <a:ext cx="1910357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COMPROMETIMENTO ATUAL</a:t>
            </a:r>
            <a:endParaRPr/>
          </a:p>
        </p:txBody>
      </p:sp>
      <p:sp>
        <p:nvSpPr>
          <p:cNvPr id="145" name="Google Shape;145;p13"/>
          <p:cNvSpPr txBox="1"/>
          <p:nvPr/>
        </p:nvSpPr>
        <p:spPr>
          <a:xfrm>
            <a:off x="3091308" y="4917281"/>
            <a:ext cx="163458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B91C1C"/>
                </a:solidFill>
                <a:latin typeface="Urbanist"/>
                <a:ea typeface="Urbanist"/>
                <a:cs typeface="Urbanist"/>
                <a:sym typeface="Urbanist"/>
              </a:rPr>
              <a:t>100% (45 </a:t>
            </a:r>
            <a:r>
              <a:rPr lang="en-US" sz="1050" b="1" i="0" u="none" strike="noStrike" cap="none" dirty="0" err="1">
                <a:solidFill>
                  <a:srgbClr val="B91C1C"/>
                </a:solidFill>
                <a:latin typeface="Urbanist"/>
                <a:ea typeface="Urbanist"/>
                <a:cs typeface="Urbanist"/>
                <a:sym typeface="Urbanist"/>
              </a:rPr>
              <a:t>dias</a:t>
            </a:r>
            <a:r>
              <a:rPr lang="en-US" sz="1050" b="1" i="0" u="none" strike="noStrike" cap="none" dirty="0">
                <a:solidFill>
                  <a:srgbClr val="B91C1C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dirty="0"/>
          </a:p>
        </p:txBody>
      </p:sp>
      <p:pic>
        <p:nvPicPr>
          <p:cNvPr id="146" name="Google Shape;146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527674" y="573541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5285680" y="2498854"/>
            <a:ext cx="626864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5285680" y="3143577"/>
            <a:ext cx="626864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3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5151437" y="3787556"/>
            <a:ext cx="8953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3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7513935" y="3787556"/>
            <a:ext cx="4857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3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5285680" y="4431536"/>
            <a:ext cx="626864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3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5285680" y="5076408"/>
            <a:ext cx="626864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527674" y="5735419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295</Words>
  <Application>Microsoft Office PowerPoint</Application>
  <PresentationFormat>Widescreen</PresentationFormat>
  <Paragraphs>39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12" baseType="lpstr">
      <vt:lpstr>Calibri</vt:lpstr>
      <vt:lpstr>Urbanist</vt:lpstr>
      <vt:lpstr>Urbanist ExtraBold</vt:lpstr>
      <vt:lpstr>Urbanist Medium</vt:lpstr>
      <vt:lpstr>Poppins</vt:lpstr>
      <vt:lpstr>Urbanist SemiBold</vt:lpstr>
      <vt:lpstr>Poppins SemiBold</vt:lpstr>
      <vt:lpstr>Lato</vt:lpstr>
      <vt:lpstr>Arial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jonathan alves</dc:creator>
  <cp:lastModifiedBy>jonathan alves</cp:lastModifiedBy>
  <cp:revision>3</cp:revision>
  <dcterms:modified xsi:type="dcterms:W3CDTF">2026-06-25T16:43:23Z</dcterms:modified>
</cp:coreProperties>
</file>